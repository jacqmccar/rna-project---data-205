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20"/>
    <p:restoredTop sz="85773"/>
  </p:normalViewPr>
  <p:slideViewPr>
    <p:cSldViewPr snapToGrid="0">
      <p:cViewPr varScale="1">
        <p:scale>
          <a:sx n="100" d="100"/>
          <a:sy n="100" d="100"/>
        </p:scale>
        <p:origin x="16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12:05:55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65,'54'0,"-4"0,-15 0,-1 0,3 0,2 0,5-3,14-2,4-3,-1-1,-7 1,-14 2,-1 1,-1 1,-2 2,-5 1,-3 1,-4 0,-1 0,-2 0,-2 0,0 0,0 0,1 0,-1 0,0 0,-2 0,-1 0,0 0,1 0,0 0,-2-2,-1 0,3-1,-2 1,3 1,-2 1,1 0,-2-1,-1-1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12:06:04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50,'58'-4,"-5"0,-16 4,3 0,3-1,4-4,9-1,7 1,-1 1,-3 4,-14 0,-8 0,-4 0,-3 0,1 0,0 0,1-1,0-2,1 0,-2-1,0 0,0 1,0 1,-2 2,-2 0,-3 0,0 0,-1 0,2 0,-1 0,-1 0,-1 0,-3 0,1 0,-1 0,0 0,0 0,0 0,0 0,0 0,0 0,0 0,1 0,-4 0,-2 0,-3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12:06:08.5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0 240,'85'0,"10"0,-43 0,1 0,3 0,3-2,24-3,1-2,-24 2,0 0,14-4,-3 1,12-1,-8 1,-3 2,3 1,-1-3,0-2,-4 2,-7 0,-2 3,-3 0,-1 0,-3 3,-7-3,-5 1,-2 1,-3-1,3 1,-5 1,-2-3,-4 3,-5-1,-3 1,-2 2,3 0,0 0,0 0,0 0,-3 0,0 0,0 0,-2 0,-3 0,3-2,-23-35,12 26,-19-26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7F84E-98EC-6744-90F4-85140FEC4ED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84341-2981-1643-B3C7-A7B63CA34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50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Project looks at how immune response and viral load relate to covid-19. using RNA sequencing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9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using two datasets: one with immune scores and viral load, and a second RNA-seq dataset that lets me analyze gene expression differences between COVID and healthy patients.</a:t>
            </a:r>
          </a:p>
          <a:p>
            <a:endParaRPr lang="en-US" dirty="0"/>
          </a:p>
          <a:p>
            <a:r>
              <a:rPr lang="en-US" dirty="0"/>
              <a:t>What is the new dataset like? What is it about? How does it relate?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Both of the datasets are from GEO - gene expression omnibus</a:t>
            </a:r>
          </a:p>
          <a:p>
            <a:endParaRPr lang="en-US" dirty="0"/>
          </a:p>
          <a:p>
            <a:r>
              <a:rPr lang="en-US" dirty="0"/>
              <a:t>NCBI – National Center for Biotechnology Information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87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challenge was making sure the gene counts matched the metadata correctly. I also filtered out low-expression genes to improve the analysis quality.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14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PCA plot reduces thousands of genes into two dimensions. We can see that COVID and healthy samples begin to separate, which suggest that there are meaningful biological differences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40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What is DESeq2? It is a statistical method used to find genes that are expressed differently between groups. </a:t>
            </a:r>
          </a:p>
          <a:p>
            <a:endParaRPr lang="en-US" dirty="0"/>
          </a:p>
          <a:p>
            <a:r>
              <a:rPr lang="en-US" dirty="0"/>
              <a:t>Takes your </a:t>
            </a:r>
            <a:r>
              <a:rPr lang="en-US" b="1" dirty="0"/>
              <a:t>gene count data (RNA-seq)</a:t>
            </a:r>
            <a:endParaRPr lang="en-US" dirty="0"/>
          </a:p>
          <a:p>
            <a:r>
              <a:rPr lang="en-US" dirty="0"/>
              <a:t>Compares two groups (COVID vs Healthy)</a:t>
            </a:r>
          </a:p>
          <a:p>
            <a:r>
              <a:rPr lang="en-US" dirty="0"/>
              <a:t>For each gene, it calculates:</a:t>
            </a:r>
          </a:p>
          <a:p>
            <a:r>
              <a:rPr lang="en-US" b="1" dirty="0"/>
              <a:t>log2 fold change</a:t>
            </a:r>
            <a:r>
              <a:rPr lang="en-US" dirty="0"/>
              <a:t> → how much it changes</a:t>
            </a:r>
          </a:p>
          <a:p>
            <a:r>
              <a:rPr lang="en-US" b="1" dirty="0"/>
              <a:t>p-value</a:t>
            </a:r>
            <a:r>
              <a:rPr lang="en-US" dirty="0"/>
              <a:t> → how significant the change is</a:t>
            </a:r>
          </a:p>
          <a:p>
            <a:br>
              <a:rPr lang="en-US" dirty="0"/>
            </a:br>
            <a:r>
              <a:rPr lang="en-US" dirty="0"/>
              <a:t> Output = list of important genes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DESeq2, compares gene expression between COVID and healthy samples to find which genes are significantly different.</a:t>
            </a:r>
          </a:p>
          <a:p>
            <a:endParaRPr lang="en-US" dirty="0"/>
          </a:p>
          <a:p>
            <a:r>
              <a:rPr lang="en-US" dirty="0"/>
              <a:t>I used DESeq2 to identify which genes are more active in COVID patients, which helps explain the immune response we saw in the PCA.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the top differentially expressed genes. We can see large fold changes and extremely small p-values, indicating strong differences in gene expression between COVID and healthy samples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9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volcano plot vis? And why should I use it?</a:t>
            </a:r>
          </a:p>
          <a:p>
            <a:r>
              <a:rPr lang="en-US" dirty="0"/>
              <a:t>Next, I plan to finalize my differential expression analysis and build a classifier to predict COVID status using immune and viral data.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4341-2981-1643-B3C7-A7B63CA341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4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8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4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4/16/26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2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3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0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2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5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7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4/16/26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9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1084F4-7C83-F988-2703-C93D640665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9517" r="-2" b="-2"/>
          <a:stretch>
            <a:fillRect/>
          </a:stretch>
        </p:blipFill>
        <p:spPr>
          <a:xfrm>
            <a:off x="2211" y="8"/>
            <a:ext cx="12189789" cy="6873457"/>
          </a:xfrm>
          <a:prstGeom prst="rect">
            <a:avLst/>
          </a:prstGeom>
          <a:ln w="12700">
            <a:noFill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"/>
            <a:ext cx="12192000" cy="6857996"/>
            <a:chOff x="572" y="-1"/>
            <a:chExt cx="12192000" cy="685799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0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C2FF72-5F03-320E-E410-AEFBC6CEA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429000"/>
            <a:ext cx="7919687" cy="2387600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COVID-19 Immune Response Analysis Using RNA-seq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65F86-819B-0B9C-9DBC-E879E6B3A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1040986"/>
            <a:ext cx="7151357" cy="227248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Jacqueline McCarty</a:t>
            </a:r>
          </a:p>
          <a:p>
            <a:r>
              <a:rPr lang="en-US" dirty="0">
                <a:solidFill>
                  <a:srgbClr val="FFFFFF"/>
                </a:solidFill>
              </a:rPr>
              <a:t>Data 205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040F7-17B7-3135-4AA2-0E1F13EF77FB}"/>
              </a:ext>
            </a:extLst>
          </p:cNvPr>
          <p:cNvSpPr txBox="1"/>
          <p:nvPr/>
        </p:nvSpPr>
        <p:spPr>
          <a:xfrm>
            <a:off x="7213600" y="-800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890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EFBC-FC09-B7EE-E73E-3C045CFB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6C72-56E3-B1F2-FF0D-E1F582051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  <a:p>
            <a:pPr lvl="1"/>
            <a:r>
              <a:rPr lang="en-US" dirty="0"/>
              <a:t>Main: Upper airway gene expression differentiates COVID-19 from other acute respiratory illnesses and reveals suppression of innate immune responses by SARS-CoV-2 (GSE156063)</a:t>
            </a:r>
          </a:p>
          <a:p>
            <a:pPr lvl="1"/>
            <a:r>
              <a:rPr lang="en-US" dirty="0"/>
              <a:t>Complementary dataset: RNA-seq gene expression (GSE152418)</a:t>
            </a:r>
          </a:p>
          <a:p>
            <a:r>
              <a:rPr lang="en-US" dirty="0"/>
              <a:t>Key variables: </a:t>
            </a:r>
          </a:p>
          <a:p>
            <a:pPr lvl="1"/>
            <a:r>
              <a:rPr lang="en-US" dirty="0"/>
              <a:t>Innate immune score </a:t>
            </a:r>
          </a:p>
          <a:p>
            <a:pPr lvl="1"/>
            <a:r>
              <a:rPr lang="en-US" dirty="0"/>
              <a:t>Viral load (PCR)</a:t>
            </a:r>
          </a:p>
          <a:p>
            <a:pPr lvl="1"/>
            <a:r>
              <a:rPr lang="en-US" dirty="0"/>
              <a:t>Disease Status (COVID vs. Healthy)</a:t>
            </a:r>
          </a:p>
          <a:p>
            <a:pPr lvl="1"/>
            <a:r>
              <a:rPr lang="en-US" dirty="0"/>
              <a:t>Gene expression counts</a:t>
            </a:r>
          </a:p>
          <a:p>
            <a:r>
              <a:rPr lang="en-US" dirty="0"/>
              <a:t>Source: public GEO dataset (NCBI)</a:t>
            </a:r>
          </a:p>
        </p:txBody>
      </p:sp>
    </p:spTree>
    <p:extLst>
      <p:ext uri="{BB962C8B-B14F-4D97-AF65-F5344CB8AC3E}">
        <p14:creationId xmlns:p14="http://schemas.microsoft.com/office/powerpoint/2010/main" val="111736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064A-CD75-0B3D-B807-1C0C18FD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B898E-3876-B74B-6403-AAA480A5A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Preparation: </a:t>
            </a:r>
          </a:p>
          <a:p>
            <a:pPr lvl="1"/>
            <a:r>
              <a:rPr lang="en-US" dirty="0"/>
              <a:t>Cleaned metadata and gene count matrices</a:t>
            </a:r>
          </a:p>
          <a:p>
            <a:pPr lvl="1"/>
            <a:r>
              <a:rPr lang="en-US" dirty="0"/>
              <a:t>Matched sample IDs across files </a:t>
            </a:r>
          </a:p>
          <a:p>
            <a:pPr lvl="1"/>
            <a:r>
              <a:rPr lang="en-US" dirty="0"/>
              <a:t>Filtered low-expression genes </a:t>
            </a:r>
          </a:p>
          <a:p>
            <a:pPr lvl="1"/>
            <a:r>
              <a:rPr lang="en-US" dirty="0"/>
              <a:t>Created disease status variable (COVID vs. Healthy)</a:t>
            </a:r>
          </a:p>
          <a:p>
            <a:pPr marL="0" indent="0">
              <a:buNone/>
            </a:pPr>
            <a:r>
              <a:rPr lang="en-US" dirty="0"/>
              <a:t>Challenges: </a:t>
            </a:r>
          </a:p>
          <a:p>
            <a:pPr lvl="1"/>
            <a:r>
              <a:rPr lang="en-US" dirty="0"/>
              <a:t>File structures issues (paths and formats)</a:t>
            </a:r>
          </a:p>
          <a:p>
            <a:pPr lvl="1"/>
            <a:r>
              <a:rPr lang="en-US" dirty="0"/>
              <a:t>Aligning metadata with count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2DA87-C9E7-9755-FB4F-1F59E1FA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EDA – Principal Component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7913-D46A-1DCD-4E3E-5462EFBB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2788919"/>
            <a:ext cx="4088986" cy="3713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Goal: see if COVID and Healthy samples separate</a:t>
            </a:r>
          </a:p>
          <a:p>
            <a:pPr marL="0" indent="0">
              <a:buNone/>
            </a:pPr>
            <a:r>
              <a:rPr lang="en-US" dirty="0"/>
              <a:t>Method: </a:t>
            </a:r>
          </a:p>
          <a:p>
            <a:pPr lvl="1"/>
            <a:r>
              <a:rPr lang="en-US" dirty="0"/>
              <a:t>PCA reduces thousands of genes into 2 components(PC1, PC2)</a:t>
            </a:r>
          </a:p>
          <a:p>
            <a:pPr marL="0" indent="0">
              <a:buNone/>
            </a:pPr>
            <a:r>
              <a:rPr lang="en-US" dirty="0"/>
              <a:t>Observation: </a:t>
            </a:r>
          </a:p>
          <a:p>
            <a:pPr lvl="1"/>
            <a:r>
              <a:rPr lang="en-US" dirty="0"/>
              <a:t>Partial overlap between groups</a:t>
            </a:r>
          </a:p>
          <a:p>
            <a:pPr lvl="1"/>
            <a:r>
              <a:rPr lang="en-US" dirty="0"/>
              <a:t>Some separation suggests biological differences</a:t>
            </a:r>
          </a:p>
          <a:p>
            <a:pPr marL="0" indent="0">
              <a:buNone/>
            </a:pPr>
            <a:r>
              <a:rPr lang="en-US" dirty="0"/>
              <a:t>Interpretation: suggests differences in gene expression patterns, but not completely distinct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C10D27B-697A-EDDE-9BDB-62EAFE284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426" y="1556971"/>
            <a:ext cx="5934701" cy="367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6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D7065-06A1-01F8-8FCD-54D22794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581267"/>
            <a:ext cx="4160386" cy="120943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EDA: Gene Differences/Direction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BE3-DF2E-5A7B-BB1D-59DE9698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84" y="1797137"/>
            <a:ext cx="4011952" cy="447959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Gene Expression Differences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Using DESeq2: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Identified genes significantly different in COVID patients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Key Insights: 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Some genes are strongly upregulated in COVID.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Extremely significant p-values (low)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Example: Top genes show consistent increased expression in COVID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Interpretation: suggests strong immune-related gene activation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Goal: Supports link between immune response and infection.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473DD47-CF09-995C-AAF9-CC274D3BF4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327"/>
          <a:stretch>
            <a:fillRect/>
          </a:stretch>
        </p:blipFill>
        <p:spPr>
          <a:xfrm>
            <a:off x="5472647" y="2255652"/>
            <a:ext cx="5830480" cy="23544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B842D22-B18B-B3AA-827F-F226F45A7356}"/>
                  </a:ext>
                </a:extLst>
              </p14:cNvPr>
              <p14:cNvContentPartPr/>
              <p14:nvPr/>
            </p14:nvContentPartPr>
            <p14:xfrm>
              <a:off x="5868060" y="4461240"/>
              <a:ext cx="413280" cy="23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B842D22-B18B-B3AA-827F-F226F45A73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4420" y="4353600"/>
                <a:ext cx="5209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7E1D2F-C8B2-89CE-B262-A21916E93F33}"/>
                  </a:ext>
                </a:extLst>
              </p14:cNvPr>
              <p14:cNvContentPartPr/>
              <p14:nvPr/>
            </p14:nvContentPartPr>
            <p14:xfrm>
              <a:off x="7906380" y="4472040"/>
              <a:ext cx="511200" cy="18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7E1D2F-C8B2-89CE-B262-A21916E93F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52380" y="4364400"/>
                <a:ext cx="6188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44024A7-5EB4-F8C4-ED6C-C85B1BEE05B9}"/>
                  </a:ext>
                </a:extLst>
              </p14:cNvPr>
              <p14:cNvContentPartPr/>
              <p14:nvPr/>
            </p14:nvContentPartPr>
            <p14:xfrm>
              <a:off x="10244580" y="4380960"/>
              <a:ext cx="795240" cy="86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44024A7-5EB4-F8C4-ED6C-C85B1BEE05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90580" y="4272960"/>
                <a:ext cx="90288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1336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FCF5-7D97-1EAD-67C5-8906DB75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971C0-EAA1-BDFB-3C9C-7116CEA3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Finalize differential expression analysis</a:t>
            </a:r>
          </a:p>
          <a:p>
            <a:r>
              <a:rPr lang="en-US" dirty="0"/>
              <a:t>Create volcano plot visualization</a:t>
            </a:r>
          </a:p>
          <a:p>
            <a:r>
              <a:rPr lang="en-US" dirty="0"/>
              <a:t>Build classifier (predict COVID status)</a:t>
            </a:r>
          </a:p>
          <a:p>
            <a:r>
              <a:rPr lang="en-US" dirty="0"/>
              <a:t>Combine immune score + viral load + gene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Goal: </a:t>
            </a:r>
          </a:p>
          <a:p>
            <a:pPr lvl="1"/>
            <a:r>
              <a:rPr lang="en-US" dirty="0"/>
              <a:t>Better understand immune response to COVID.</a:t>
            </a:r>
          </a:p>
        </p:txBody>
      </p:sp>
    </p:spTree>
    <p:extLst>
      <p:ext uri="{BB962C8B-B14F-4D97-AF65-F5344CB8AC3E}">
        <p14:creationId xmlns:p14="http://schemas.microsoft.com/office/powerpoint/2010/main" val="2923213688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596</Words>
  <Application>Microsoft Macintosh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Avenir Next LT Pro</vt:lpstr>
      <vt:lpstr>Footlight MT Light</vt:lpstr>
      <vt:lpstr>ArchVTI</vt:lpstr>
      <vt:lpstr>COVID-19 Immune Response Analysis Using RNA-seq </vt:lpstr>
      <vt:lpstr>Data</vt:lpstr>
      <vt:lpstr>Cleaning </vt:lpstr>
      <vt:lpstr>EDA – Principal Component Analysis</vt:lpstr>
      <vt:lpstr>EDA: Gene Differences/Direction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 mccarty</dc:creator>
  <cp:lastModifiedBy>jacq mccarty</cp:lastModifiedBy>
  <cp:revision>1</cp:revision>
  <dcterms:created xsi:type="dcterms:W3CDTF">2026-04-16T10:07:08Z</dcterms:created>
  <dcterms:modified xsi:type="dcterms:W3CDTF">2026-04-16T12:28:44Z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55589f-69af-4b8f-bb7e-f33b2c49fdb7_Enabled">
    <vt:lpwstr>true</vt:lpwstr>
  </property>
  <property fmtid="{D5CDD505-2E9C-101B-9397-08002B2CF9AE}" pid="3" name="MSIP_Label_db55589f-69af-4b8f-bb7e-f33b2c49fdb7_SetDate">
    <vt:lpwstr>2026-04-17T06:26:35Z</vt:lpwstr>
  </property>
  <property fmtid="{D5CDD505-2E9C-101B-9397-08002B2CF9AE}" pid="4" name="MSIP_Label_db55589f-69af-4b8f-bb7e-f33b2c49fdb7_Method">
    <vt:lpwstr>Standard</vt:lpwstr>
  </property>
  <property fmtid="{D5CDD505-2E9C-101B-9397-08002B2CF9AE}" pid="5" name="MSIP_Label_db55589f-69af-4b8f-bb7e-f33b2c49fdb7_Name">
    <vt:lpwstr>Sensitive (Internal)</vt:lpwstr>
  </property>
  <property fmtid="{D5CDD505-2E9C-101B-9397-08002B2CF9AE}" pid="6" name="MSIP_Label_db55589f-69af-4b8f-bb7e-f33b2c49fdb7_SiteId">
    <vt:lpwstr>4d401e0b-6552-4e08-bd38-a8d15ca0ddd9</vt:lpwstr>
  </property>
  <property fmtid="{D5CDD505-2E9C-101B-9397-08002B2CF9AE}" pid="7" name="MSIP_Label_db55589f-69af-4b8f-bb7e-f33b2c49fdb7_ActionId">
    <vt:lpwstr>8d0e308f-2022-4ecc-815f-2f1951bb0d56</vt:lpwstr>
  </property>
  <property fmtid="{D5CDD505-2E9C-101B-9397-08002B2CF9AE}" pid="8" name="MSIP_Label_db55589f-69af-4b8f-bb7e-f33b2c49fdb7_Provider">
    <vt:lpwstr>Varonis.Labeling</vt:lpwstr>
  </property>
  <property fmtid="{D5CDD505-2E9C-101B-9397-08002B2CF9AE}" pid="9" name="MSIP_Label_db55589f-69af-4b8f-bb7e-f33b2c49fdb7_ContentBits">
    <vt:lpwstr>0</vt:lpwstr>
  </property>
</Properties>
</file>