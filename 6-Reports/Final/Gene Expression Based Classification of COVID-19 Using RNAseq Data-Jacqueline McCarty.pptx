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Oswald" pitchFamily="2" charset="77"/>
      <p:regular r:id="rId15"/>
      <p:bold r:id="rId16"/>
    </p:embeddedFont>
    <p:embeddedFont>
      <p:font typeface="Roboto" panose="02000000000000000000" pitchFamily="2" charset="0"/>
      <p:regular r:id="rId17"/>
      <p:bold r:id="rId18"/>
      <p:italic r:id="rId19"/>
      <p:boldItalic r:id="rId20"/>
    </p:embeddedFont>
    <p:embeddedFont>
      <p:font typeface="Roboto Slab" pitchFamily="2" charset="0"/>
      <p:regular r:id="rId21"/>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60" d="100"/>
          <a:sy n="160" d="100"/>
        </p:scale>
        <p:origin x="78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dc4686ef9e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dc4686ef9e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“RNA sequencing, measures how active genes are in a sample. When someone has a disease like COVID-19, their gene activity changes. By analyzing these patterns, we can identify which genes are different and potentially use them to classify disease. In this project, I explore whether gene expression can distinguish COVID-19 from healthy samples, and whether a small number of genes is enough to do this accurately.”</a:t>
            </a:r>
            <a:endParaRPr/>
          </a:p>
          <a:p>
            <a:pPr marL="0" lvl="0" indent="0" algn="l" rtl="0">
              <a:spcBef>
                <a:spcPts val="120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dc4686ef9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dc4686ef9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dc4686ef9e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c4686ef9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Innate immune Scores: A measure of how active the body’s early immune response is</a:t>
            </a:r>
            <a:endParaRPr/>
          </a:p>
          <a:p>
            <a:pPr marL="457200" lvl="0" indent="-298450" algn="l" rtl="0">
              <a:spcBef>
                <a:spcPts val="0"/>
              </a:spcBef>
              <a:spcAft>
                <a:spcPts val="0"/>
              </a:spcAft>
              <a:buSzPts val="1100"/>
              <a:buChar char="-"/>
            </a:pPr>
            <a:r>
              <a:rPr lang="en"/>
              <a:t>Viral Load: This measures how much of the virus is present. Higher values mean more virus in the body</a:t>
            </a:r>
            <a:endParaRPr/>
          </a:p>
          <a:p>
            <a:pPr marL="457200" lvl="0" indent="-298450" algn="l" rtl="0">
              <a:spcBef>
                <a:spcPts val="0"/>
              </a:spcBef>
              <a:spcAft>
                <a:spcPts val="0"/>
              </a:spcAft>
              <a:buSzPts val="1100"/>
              <a:buChar char="-"/>
            </a:pPr>
            <a:r>
              <a:rPr lang="en"/>
              <a:t>Disease status: the label for each sample.</a:t>
            </a:r>
            <a:endParaRPr/>
          </a:p>
          <a:p>
            <a:pPr marL="457200" lvl="0" indent="-298450" algn="l" rtl="0">
              <a:spcBef>
                <a:spcPts val="0"/>
              </a:spcBef>
              <a:spcAft>
                <a:spcPts val="0"/>
              </a:spcAft>
              <a:buSzPts val="1100"/>
              <a:buChar char="-"/>
            </a:pPr>
            <a:r>
              <a:rPr lang="en"/>
              <a:t>Gene Expression: how active each gene is in a sample. This tells us how ‘on’ or ‘off’ a gene is. Higher values mean the gene is more active</a:t>
            </a:r>
            <a:endParaRPr/>
          </a:p>
          <a:p>
            <a:pPr marL="457200" lvl="0" indent="-298450" algn="l" rtl="0">
              <a:spcBef>
                <a:spcPts val="0"/>
              </a:spcBef>
              <a:spcAft>
                <a:spcPts val="0"/>
              </a:spcAft>
              <a:buSzPts val="1100"/>
              <a:buChar cha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dc4686ef9e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dc4686ef9e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t>Each point represents a gene. The x-axis shows how much the gene’s activity changes between COVID-19 and healthy samples, Values to the right mean the gene is more active in COVID, and values to the left mean it’s more active in healthy samples and the y-axis shows how statistically significant that change is. Genes on the left are more active in healthy samples, while genes on the right are more active in COVID-19 samples. The higher a point is, the more confident we are that the gene difference is real, and the points that are higher and farther from the center represent the most important gene differences.</a:t>
            </a:r>
            <a:endParaRPr/>
          </a:p>
          <a:p>
            <a:pPr marL="0" lvl="0" indent="0" algn="l" rtl="0">
              <a:lnSpc>
                <a:spcPct val="115000"/>
              </a:lnSpc>
              <a:spcBef>
                <a:spcPts val="1200"/>
              </a:spcBef>
              <a:spcAft>
                <a:spcPts val="0"/>
              </a:spcAft>
              <a:buNone/>
            </a:pPr>
            <a:r>
              <a:rPr lang="en"/>
              <a:t>Out of all the genes analyzed, 10,145 were significantly different between COVID-19 and healthy samples.</a:t>
            </a:r>
            <a:endParaRPr/>
          </a:p>
          <a:p>
            <a:pPr marL="0" lvl="0" indent="0" algn="l" rtl="0">
              <a:lnSpc>
                <a:spcPct val="115000"/>
              </a:lnSpc>
              <a:spcBef>
                <a:spcPts val="1200"/>
              </a:spcBef>
              <a:spcAft>
                <a:spcPts val="0"/>
              </a:spcAft>
              <a:buNone/>
            </a:pPr>
            <a:endParaRPr/>
          </a:p>
          <a:p>
            <a:pPr marL="0" lvl="0" indent="0" algn="l" rtl="0">
              <a:lnSpc>
                <a:spcPct val="115000"/>
              </a:lnSpc>
              <a:spcBef>
                <a:spcPts val="1200"/>
              </a:spcBef>
              <a:spcAft>
                <a:spcPts val="0"/>
              </a:spcAft>
              <a:buNone/>
            </a:pPr>
            <a:r>
              <a:rPr lang="en"/>
              <a:t>Shorter: Each point is a gene. Left and right show whether it’s more active in healthy or COVID samples, and higher points are more statistically significant. The genes that are highest and farthest from the center are the most important differences</a:t>
            </a:r>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top-right corner: </a:t>
            </a:r>
            <a:r>
              <a:rPr lang="en" b="1">
                <a:solidFill>
                  <a:schemeClr val="dk1"/>
                </a:solidFill>
              </a:rPr>
              <a:t>"Highly Significant &amp; Increased"</a:t>
            </a:r>
            <a:endParaRPr b="1">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top-left corner: </a:t>
            </a:r>
            <a:r>
              <a:rPr lang="en" b="1">
                <a:solidFill>
                  <a:schemeClr val="dk1"/>
                </a:solidFill>
              </a:rPr>
              <a:t>"Highly Significant &amp; Decreased"</a:t>
            </a:r>
            <a:endParaRPr/>
          </a:p>
          <a:p>
            <a:pPr marL="0" lvl="0" indent="0" algn="l" rtl="0">
              <a:spcBef>
                <a:spcPts val="1200"/>
              </a:spcBef>
              <a:spcAft>
                <a:spcPts val="0"/>
              </a:spcAft>
              <a:buNone/>
            </a:pPr>
            <a:endParaRPr/>
          </a:p>
          <a:p>
            <a:pPr marL="0" lvl="0" indent="0" algn="l" rtl="0">
              <a:spcBef>
                <a:spcPts val="0"/>
              </a:spcBef>
              <a:spcAft>
                <a:spcPts val="0"/>
              </a:spcAft>
              <a:buNone/>
            </a:pPr>
            <a:r>
              <a:rPr lang="en" b="1"/>
              <a:t>Gem : </a:t>
            </a:r>
            <a:r>
              <a:rPr lang="en" b="1">
                <a:solidFill>
                  <a:schemeClr val="dk1"/>
                </a:solidFill>
              </a:rPr>
              <a:t>"In this plot, every dot is a human gene. The red dots on the right are genes that increased in activity when patients had COVID-19—these are mostly genes the body uses to signal an alarm. The blue dots on the left are genes that decreased, meaning the virus might be suppressing those parts of the immune system.</a:t>
            </a:r>
            <a:endParaRPr b="1">
              <a:solidFill>
                <a:schemeClr val="dk1"/>
              </a:solidFill>
            </a:endParaRPr>
          </a:p>
          <a:p>
            <a:pPr marL="0" lvl="0" indent="0" algn="l" rtl="0">
              <a:spcBef>
                <a:spcPts val="0"/>
              </a:spcBef>
              <a:spcAft>
                <a:spcPts val="0"/>
              </a:spcAft>
              <a:buNone/>
            </a:pPr>
            <a:endParaRPr b="1">
              <a:solidFill>
                <a:schemeClr val="dk1"/>
              </a:solidFill>
            </a:endParaRPr>
          </a:p>
          <a:p>
            <a:pPr marL="0" lvl="0" indent="0" algn="l" rtl="0">
              <a:spcBef>
                <a:spcPts val="0"/>
              </a:spcBef>
              <a:spcAft>
                <a:spcPts val="0"/>
              </a:spcAft>
              <a:buNone/>
            </a:pPr>
            <a:endParaRPr b="1">
              <a:solidFill>
                <a:schemeClr val="dk1"/>
              </a:solidFill>
            </a:endParaRPr>
          </a:p>
          <a:p>
            <a:pPr marL="0" lvl="0" indent="0" algn="l" rtl="0">
              <a:spcBef>
                <a:spcPts val="0"/>
              </a:spcBef>
              <a:spcAft>
                <a:spcPts val="0"/>
              </a:spcAft>
              <a:buNone/>
            </a:pPr>
            <a:r>
              <a:rPr lang="en" sz="1200">
                <a:solidFill>
                  <a:schemeClr val="dk1"/>
                </a:solidFill>
              </a:rPr>
              <a:t>To help you read this 'Volcano Plot,' remember that each dot is a gene. If it’s on the </a:t>
            </a:r>
            <a:r>
              <a:rPr lang="en" b="1">
                <a:solidFill>
                  <a:schemeClr val="dk1"/>
                </a:solidFill>
              </a:rPr>
              <a:t>right</a:t>
            </a:r>
            <a:r>
              <a:rPr lang="en" sz="1200">
                <a:solidFill>
                  <a:schemeClr val="dk1"/>
                </a:solidFill>
              </a:rPr>
              <a:t>, it increased during infection. If it’s on the </a:t>
            </a:r>
            <a:r>
              <a:rPr lang="en" b="1">
                <a:solidFill>
                  <a:schemeClr val="dk1"/>
                </a:solidFill>
              </a:rPr>
              <a:t>left</a:t>
            </a:r>
            <a:r>
              <a:rPr lang="en" sz="1200">
                <a:solidFill>
                  <a:schemeClr val="dk1"/>
                </a:solidFill>
              </a:rPr>
              <a:t>, it decreased. The </a:t>
            </a:r>
            <a:r>
              <a:rPr lang="en" b="1">
                <a:solidFill>
                  <a:schemeClr val="dk1"/>
                </a:solidFill>
              </a:rPr>
              <a:t>higher</a:t>
            </a:r>
            <a:r>
              <a:rPr lang="en" sz="1200">
                <a:solidFill>
                  <a:schemeClr val="dk1"/>
                </a:solidFill>
              </a:rPr>
              <a:t> the dot, the more certain we are that this change didn't happen by chance. As you can see by the sea of red and blue, COVID-19 significantly reshapes our gene activity.</a:t>
            </a:r>
            <a:endParaRPr b="1">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dc4686ef9e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dc4686ef9e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t>I used a random forest model to classify disease status based on gene expression. The model achieved 100% accuracy and correctly classified all samples. However, because the dataset is small, this result likely reflects overfitting rather than true predictive performance.</a:t>
            </a:r>
            <a:endParaRPr/>
          </a:p>
          <a:p>
            <a:pPr marL="0" lvl="0" indent="0" algn="l" rtl="0">
              <a:lnSpc>
                <a:spcPct val="115000"/>
              </a:lnSpc>
              <a:spcBef>
                <a:spcPts val="1200"/>
              </a:spcBef>
              <a:spcAft>
                <a:spcPts val="0"/>
              </a:spcAft>
              <a:buNone/>
            </a:pPr>
            <a:r>
              <a:rPr lang="en"/>
              <a:t>Sensitivity and specificity were both 1.0, meaning the model perfectly identified both COVID and healthy samples</a:t>
            </a:r>
            <a:endParaRPr/>
          </a:p>
          <a:p>
            <a:pPr marL="0" lvl="0" indent="0" algn="l" rtl="0">
              <a:lnSpc>
                <a:spcPct val="115000"/>
              </a:lnSpc>
              <a:spcBef>
                <a:spcPts val="1200"/>
              </a:spcBef>
              <a:spcAft>
                <a:spcPts val="0"/>
              </a:spcAft>
              <a:buNone/>
            </a:pPr>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In fact, this is exactly the kind of result a teacher or professor wants to see.</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When you present the "16/17" split with the 33 samples, you are showing a </a:t>
            </a:r>
            <a:r>
              <a:rPr lang="en" b="1">
                <a:solidFill>
                  <a:schemeClr val="dk1"/>
                </a:solidFill>
              </a:rPr>
              <a:t>robust</a:t>
            </a:r>
            <a:r>
              <a:rPr lang="en">
                <a:solidFill>
                  <a:schemeClr val="dk1"/>
                </a:solidFill>
              </a:rPr>
              <a:t> model. If you use this in your slides, make sure to highlight these three specific things:</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The Sample Size (N=33):</a:t>
            </a:r>
            <a:r>
              <a:rPr lang="en">
                <a:solidFill>
                  <a:schemeClr val="dk1"/>
                </a:solidFill>
              </a:rPr>
              <a:t> Mention that you tested this on 33 unique patient samples, which makes the 100% accuracy more impressive than a smaller test.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The 95% CI:</a:t>
            </a:r>
            <a:r>
              <a:rPr lang="en">
                <a:solidFill>
                  <a:schemeClr val="dk1"/>
                </a:solidFill>
              </a:rPr>
              <a:t> Point out that even in a "worst-case scenario," the model is statistically expected to be at least </a:t>
            </a:r>
            <a:r>
              <a:rPr lang="en" b="1">
                <a:solidFill>
                  <a:schemeClr val="dk1"/>
                </a:solidFill>
              </a:rPr>
              <a:t>89% accurate</a:t>
            </a:r>
            <a:r>
              <a:rPr lang="en">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The P-Value:</a:t>
            </a:r>
            <a:r>
              <a:rPr lang="en">
                <a:solidFill>
                  <a:schemeClr val="dk1"/>
                </a:solidFill>
              </a:rPr>
              <a:t> Mention that the p-value is extremely low (3.118×10−10), which proves this result is not a fluke or a lucky guess.</a:t>
            </a: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One tiny "Presentation Pro" Tip:</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When you show this slide, someone might ask: </a:t>
            </a:r>
            <a:r>
              <a:rPr lang="en" i="1">
                <a:solidFill>
                  <a:schemeClr val="dk1"/>
                </a:solidFill>
              </a:rPr>
              <a:t>"Wait, how is the accuracy 100% if the Confidence Interval (CI) starts at 89.4%?"</a:t>
            </a:r>
            <a:endParaRPr i="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Your answer:</a:t>
            </a:r>
            <a:endParaRPr b="1">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i="1">
                <a:solidFill>
                  <a:schemeClr val="dk1"/>
                </a:solidFill>
              </a:rPr>
              <a:t>"The 100% accuracy is what we achieved on our specific test group of 33 people. The Confidence Interval is a statistical 'safety net'—it tells us that even if we tested a much larger group of people, we can be 95% confident the model would still be at least 89.4% accurate."</a:t>
            </a:r>
            <a:endParaRPr i="1">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0"/>
              </a:spcAft>
              <a:buNone/>
            </a:pPr>
            <a:endParaRPr/>
          </a:p>
          <a:p>
            <a:pPr marL="0" lvl="0" indent="0" algn="l" rtl="0">
              <a:lnSpc>
                <a:spcPct val="115000"/>
              </a:lnSpc>
              <a:spcBef>
                <a:spcPts val="1200"/>
              </a:spcBef>
              <a:spcAft>
                <a:spcPts val="120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dc4686ef9e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dc4686ef9e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This graph shows how the model performs when using different numbers of genes. Even when using only 10 genes, the model is still 100% accurate. This suggests that we don’t need a large number of genes to classify COVID-19, and a small subset is enough</a:t>
            </a:r>
            <a:endParaRPr/>
          </a:p>
          <a:p>
            <a:pPr marL="0" lvl="0" indent="0" algn="l" rtl="0">
              <a:spcBef>
                <a:spcPts val="120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dc4686ef9e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dc4686ef9e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Overall, gene expression clearly separates COVID-19 and healthy samples. Even small sets of genes can accurately classify disease, and the biological analysis and machine learning results support each other. These findings suggest that fewer genes could potentially be used for simpler diagnostic approaches</a:t>
            </a:r>
            <a:endParaRPr/>
          </a:p>
          <a:p>
            <a:pPr marL="0" lvl="0" indent="0" algn="l" rtl="0">
              <a:spcBef>
                <a:spcPts val="120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dc4686ef9e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dc4686ef9e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dc4686ef9e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dc4686ef9e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t>Cross-validation helps make sure the model isn’t just memorizing the data, but can generalize to new samples. Because the dataset is small, cross-validation would be useful to better estimate how the model performs on new data</a:t>
            </a:r>
            <a:endParaRPr/>
          </a:p>
          <a:p>
            <a:pPr marL="0" lvl="0" indent="0" algn="l" rtl="0">
              <a:lnSpc>
                <a:spcPct val="115000"/>
              </a:lnSpc>
              <a:spcBef>
                <a:spcPts val="1200"/>
              </a:spcBef>
              <a:spcAft>
                <a:spcPts val="120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dc4686ef9e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dc4686ef9e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e07656f39e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e07656f39e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US"/>
          </a:p>
        </p:txBody>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US"/>
          </a:p>
        </p:txBody>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www.ncbi.nlm.nih.gov/geo/query/acc.cgi?acc=GSE152418"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hyperlink" Target="https://www.ncbi.nlm.nih.gov/geo/query/acc.cgi?acc=GSE15606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rmAutofit fontScale="90000"/>
          </a:bodyPr>
          <a:lstStyle/>
          <a:p>
            <a:pPr marL="0" lvl="0" indent="0" algn="l" rtl="0">
              <a:lnSpc>
                <a:spcPct val="115000"/>
              </a:lnSpc>
              <a:spcBef>
                <a:spcPts val="0"/>
              </a:spcBef>
              <a:spcAft>
                <a:spcPts val="0"/>
              </a:spcAft>
              <a:buNone/>
            </a:pPr>
            <a:endParaRPr sz="2800">
              <a:solidFill>
                <a:schemeClr val="lt1"/>
              </a:solidFill>
              <a:latin typeface="Oswald"/>
              <a:ea typeface="Oswald"/>
              <a:cs typeface="Oswald"/>
              <a:sym typeface="Oswald"/>
            </a:endParaRPr>
          </a:p>
          <a:p>
            <a:pPr marL="0" lvl="0" indent="0" algn="ctr" rtl="0">
              <a:spcBef>
                <a:spcPts val="0"/>
              </a:spcBef>
              <a:spcAft>
                <a:spcPts val="0"/>
              </a:spcAft>
              <a:buNone/>
            </a:pPr>
            <a:r>
              <a:rPr lang="en"/>
              <a:t>Gene Expression Based Classification of COVID-19 Using RNAseq Data</a:t>
            </a:r>
            <a:endParaRPr/>
          </a:p>
        </p:txBody>
      </p:sp>
      <p:sp>
        <p:nvSpPr>
          <p:cNvPr id="64" name="Google Shape;64;p13"/>
          <p:cNvSpPr txBox="1">
            <a:spLocks noGrp="1"/>
          </p:cNvSpPr>
          <p:nvPr>
            <p:ph type="subTitle" idx="1"/>
          </p:nvPr>
        </p:nvSpPr>
        <p:spPr>
          <a:xfrm>
            <a:off x="311700" y="2834125"/>
            <a:ext cx="8520600" cy="1061700"/>
          </a:xfrm>
          <a:prstGeom prst="rect">
            <a:avLst/>
          </a:prstGeom>
        </p:spPr>
        <p:txBody>
          <a:bodyPr spcFirstLastPara="1" wrap="square" lIns="91425" tIns="91425" rIns="91425" bIns="91425" anchor="t" anchorCtr="0">
            <a:normAutofit lnSpcReduction="20000"/>
          </a:bodyPr>
          <a:lstStyle/>
          <a:p>
            <a:pPr marL="0" lvl="0" indent="0" algn="ctr" rtl="0">
              <a:spcBef>
                <a:spcPts val="0"/>
              </a:spcBef>
              <a:spcAft>
                <a:spcPts val="0"/>
              </a:spcAft>
              <a:buNone/>
            </a:pPr>
            <a:r>
              <a:rPr lang="en"/>
              <a:t>Jacqueline McCarty </a:t>
            </a:r>
            <a:endParaRPr/>
          </a:p>
          <a:p>
            <a:pPr marL="0" lvl="0" indent="0" algn="ctr" rtl="0">
              <a:spcBef>
                <a:spcPts val="0"/>
              </a:spcBef>
              <a:spcAft>
                <a:spcPts val="0"/>
              </a:spcAft>
              <a:buNone/>
            </a:pPr>
            <a:r>
              <a:rPr lang="en"/>
              <a:t>Data 205 </a:t>
            </a:r>
            <a:endParaRPr/>
          </a:p>
          <a:p>
            <a:pPr marL="0" lvl="0" indent="0" algn="ctr" rtl="0">
              <a:spcBef>
                <a:spcPts val="0"/>
              </a:spcBef>
              <a:spcAft>
                <a:spcPts val="0"/>
              </a:spcAft>
              <a:buNone/>
            </a:pPr>
            <a:r>
              <a:rPr lang="en"/>
              <a:t>May,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p:nvPr/>
        </p:nvSpPr>
        <p:spPr>
          <a:xfrm>
            <a:off x="297200" y="1197925"/>
            <a:ext cx="2760000" cy="350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800">
                <a:solidFill>
                  <a:schemeClr val="dk2"/>
                </a:solidFill>
              </a:rPr>
              <a:t>What is RNA-seq?</a:t>
            </a:r>
            <a:endParaRPr sz="1800">
              <a:solidFill>
                <a:schemeClr val="dk2"/>
              </a:solidFill>
            </a:endParaRPr>
          </a:p>
          <a:p>
            <a:pPr marL="0" lvl="0" indent="0" algn="ctr" rtl="0">
              <a:lnSpc>
                <a:spcPct val="115000"/>
              </a:lnSpc>
              <a:spcBef>
                <a:spcPts val="1200"/>
              </a:spcBef>
              <a:spcAft>
                <a:spcPts val="0"/>
              </a:spcAft>
              <a:buNone/>
            </a:pPr>
            <a:r>
              <a:rPr lang="en" sz="1800">
                <a:solidFill>
                  <a:schemeClr val="dk2"/>
                </a:solidFill>
              </a:rPr>
              <a:t>RNA-seq measures how active genes are in a cell.</a:t>
            </a:r>
            <a:endParaRPr sz="1800">
              <a:solidFill>
                <a:schemeClr val="dk2"/>
              </a:solidFill>
            </a:endParaRPr>
          </a:p>
          <a:p>
            <a:pPr marL="0" lvl="0" indent="0" algn="ctr" rtl="0">
              <a:spcBef>
                <a:spcPts val="1200"/>
              </a:spcBef>
              <a:spcAft>
                <a:spcPts val="0"/>
              </a:spcAft>
              <a:buNone/>
            </a:pPr>
            <a:endParaRPr/>
          </a:p>
        </p:txBody>
      </p:sp>
      <p:sp>
        <p:nvSpPr>
          <p:cNvPr id="70" name="Google Shape;70;p14"/>
          <p:cNvSpPr/>
          <p:nvPr/>
        </p:nvSpPr>
        <p:spPr>
          <a:xfrm>
            <a:off x="3197134" y="1212402"/>
            <a:ext cx="2760000" cy="350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800">
                <a:solidFill>
                  <a:schemeClr val="dk2"/>
                </a:solidFill>
              </a:rPr>
              <a:t>Why COVID-19?</a:t>
            </a:r>
            <a:endParaRPr sz="1800">
              <a:solidFill>
                <a:schemeClr val="dk2"/>
              </a:solidFill>
            </a:endParaRPr>
          </a:p>
          <a:p>
            <a:pPr marL="0" lvl="0" indent="0" algn="ctr" rtl="0">
              <a:lnSpc>
                <a:spcPct val="115000"/>
              </a:lnSpc>
              <a:spcBef>
                <a:spcPts val="1200"/>
              </a:spcBef>
              <a:spcAft>
                <a:spcPts val="0"/>
              </a:spcAft>
              <a:buNone/>
            </a:pPr>
            <a:endParaRPr sz="1800">
              <a:solidFill>
                <a:schemeClr val="dk2"/>
              </a:solidFill>
            </a:endParaRPr>
          </a:p>
          <a:p>
            <a:pPr marL="0" lvl="0" indent="0" algn="ctr" rtl="0">
              <a:lnSpc>
                <a:spcPct val="115000"/>
              </a:lnSpc>
              <a:spcBef>
                <a:spcPts val="1200"/>
              </a:spcBef>
              <a:spcAft>
                <a:spcPts val="1200"/>
              </a:spcAft>
              <a:buNone/>
            </a:pPr>
            <a:r>
              <a:rPr lang="en" sz="1800">
                <a:solidFill>
                  <a:schemeClr val="dk2"/>
                </a:solidFill>
              </a:rPr>
              <a:t>Diseases like COVID-19 change how genes behave. </a:t>
            </a:r>
            <a:endParaRPr sz="1800">
              <a:solidFill>
                <a:schemeClr val="dk2"/>
              </a:solidFill>
            </a:endParaRPr>
          </a:p>
        </p:txBody>
      </p:sp>
      <p:sp>
        <p:nvSpPr>
          <p:cNvPr id="71" name="Google Shape;71;p14"/>
          <p:cNvSpPr/>
          <p:nvPr/>
        </p:nvSpPr>
        <p:spPr>
          <a:xfrm>
            <a:off x="6072300" y="1212651"/>
            <a:ext cx="2760000" cy="350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800">
                <a:solidFill>
                  <a:schemeClr val="dk2"/>
                </a:solidFill>
              </a:rPr>
              <a:t>Why my project matters?</a:t>
            </a:r>
            <a:endParaRPr sz="1800">
              <a:solidFill>
                <a:schemeClr val="dk2"/>
              </a:solidFill>
            </a:endParaRPr>
          </a:p>
          <a:p>
            <a:pPr marL="0" lvl="0" indent="0" algn="ctr" rtl="0">
              <a:lnSpc>
                <a:spcPct val="115000"/>
              </a:lnSpc>
              <a:spcBef>
                <a:spcPts val="1200"/>
              </a:spcBef>
              <a:spcAft>
                <a:spcPts val="0"/>
              </a:spcAft>
              <a:buNone/>
            </a:pPr>
            <a:endParaRPr sz="1800">
              <a:solidFill>
                <a:schemeClr val="dk2"/>
              </a:solidFill>
            </a:endParaRPr>
          </a:p>
          <a:p>
            <a:pPr marL="0" lvl="0" indent="0" algn="ctr" rtl="0">
              <a:lnSpc>
                <a:spcPct val="115000"/>
              </a:lnSpc>
              <a:spcBef>
                <a:spcPts val="1200"/>
              </a:spcBef>
              <a:spcAft>
                <a:spcPts val="1200"/>
              </a:spcAft>
              <a:buNone/>
            </a:pPr>
            <a:r>
              <a:rPr lang="en" sz="1800">
                <a:solidFill>
                  <a:schemeClr val="dk2"/>
                </a:solidFill>
              </a:rPr>
              <a:t>If fewer genes can predict diseases, it could simplify diagnostics. </a:t>
            </a:r>
            <a:endParaRPr sz="1800">
              <a:solidFill>
                <a:schemeClr val="dk2"/>
              </a:solidFill>
            </a:endParaRPr>
          </a:p>
        </p:txBody>
      </p:sp>
      <p:sp>
        <p:nvSpPr>
          <p:cNvPr id="72" name="Google Shape;72;p14"/>
          <p:cNvSpPr txBox="1"/>
          <p:nvPr/>
        </p:nvSpPr>
        <p:spPr>
          <a:xfrm>
            <a:off x="1226925" y="183550"/>
            <a:ext cx="6434100" cy="73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dk1"/>
                </a:solidFill>
                <a:latin typeface="Roboto Slab"/>
                <a:ea typeface="Roboto Slab"/>
                <a:cs typeface="Roboto Slab"/>
                <a:sym typeface="Roboto Slab"/>
              </a:rPr>
              <a:t>Why this Project?</a:t>
            </a:r>
            <a:endParaRPr sz="3000">
              <a:solidFill>
                <a:schemeClr val="dk1"/>
              </a:solidFill>
              <a:latin typeface="Roboto Slab"/>
              <a:ea typeface="Roboto Slab"/>
              <a:cs typeface="Roboto Slab"/>
              <a:sym typeface="Roboto Slab"/>
            </a:endParaRPr>
          </a:p>
        </p:txBody>
      </p:sp>
      <p:pic>
        <p:nvPicPr>
          <p:cNvPr id="73" name="Google Shape;73;p14" title="RNAseqimg-removebg-preview.png"/>
          <p:cNvPicPr preferRelativeResize="0"/>
          <p:nvPr/>
        </p:nvPicPr>
        <p:blipFill rotWithShape="1">
          <a:blip r:embed="rId3">
            <a:alphaModFix/>
          </a:blip>
          <a:srcRect r="46732"/>
          <a:stretch/>
        </p:blipFill>
        <p:spPr>
          <a:xfrm>
            <a:off x="504166" y="2815350"/>
            <a:ext cx="2247475" cy="1711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Introduction</a:t>
            </a:r>
            <a:endParaRPr/>
          </a:p>
        </p:txBody>
      </p:sp>
      <p:sp>
        <p:nvSpPr>
          <p:cNvPr id="79" name="Google Shape;79;p15"/>
          <p:cNvSpPr txBox="1">
            <a:spLocks noGrp="1"/>
          </p:cNvSpPr>
          <p:nvPr>
            <p:ph type="body" idx="1"/>
          </p:nvPr>
        </p:nvSpPr>
        <p:spPr>
          <a:xfrm>
            <a:off x="311700" y="1444300"/>
            <a:ext cx="8520600" cy="3306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b="1"/>
              <a:t>Goal</a:t>
            </a:r>
            <a:r>
              <a:rPr lang="en"/>
              <a:t>: to determine whether gene expression data can be used to classify COVID-19 vs healthy samples, and whether a small subset of genes can accurately predict disease status.</a:t>
            </a:r>
            <a:endParaRPr/>
          </a:p>
          <a:p>
            <a:pPr marL="457200" lvl="0" indent="-342900" algn="l" rtl="0">
              <a:spcBef>
                <a:spcPts val="0"/>
              </a:spcBef>
              <a:spcAft>
                <a:spcPts val="0"/>
              </a:spcAft>
              <a:buSzPts val="1800"/>
              <a:buChar char="●"/>
            </a:pPr>
            <a:r>
              <a:rPr lang="en" b="1"/>
              <a:t>Tools</a:t>
            </a:r>
            <a:r>
              <a:rPr lang="en"/>
              <a:t>: R, DESeq2, Random Forest</a:t>
            </a:r>
            <a:endParaRPr/>
          </a:p>
          <a:p>
            <a:pPr marL="457200" lvl="0" indent="-342900" algn="l" rtl="0">
              <a:spcBef>
                <a:spcPts val="0"/>
              </a:spcBef>
              <a:spcAft>
                <a:spcPts val="0"/>
              </a:spcAft>
              <a:buSzPts val="1800"/>
              <a:buChar char="●"/>
            </a:pPr>
            <a:r>
              <a:rPr lang="en" b="1"/>
              <a:t>Data Cleaning:</a:t>
            </a:r>
            <a:endParaRPr b="1"/>
          </a:p>
          <a:p>
            <a:pPr marL="914400" lvl="1" indent="-342900" algn="l" rtl="0">
              <a:spcBef>
                <a:spcPts val="0"/>
              </a:spcBef>
              <a:spcAft>
                <a:spcPts val="0"/>
              </a:spcAft>
              <a:buSzPts val="1800"/>
              <a:buChar char="○"/>
            </a:pPr>
            <a:r>
              <a:rPr lang="en" sz="1800"/>
              <a:t>Cleaned the GEO metadata </a:t>
            </a:r>
            <a:endParaRPr sz="1800"/>
          </a:p>
          <a:p>
            <a:pPr marL="914400" lvl="1" indent="-342900" algn="l" rtl="0">
              <a:spcBef>
                <a:spcPts val="0"/>
              </a:spcBef>
              <a:spcAft>
                <a:spcPts val="0"/>
              </a:spcAft>
              <a:buSzPts val="1800"/>
              <a:buChar char="○"/>
            </a:pPr>
            <a:r>
              <a:rPr lang="en" sz="1800"/>
              <a:t>Converted counts to numeric</a:t>
            </a:r>
            <a:endParaRPr sz="1800"/>
          </a:p>
          <a:p>
            <a:pPr marL="914400" lvl="1" indent="-342900" algn="l" rtl="0">
              <a:spcBef>
                <a:spcPts val="0"/>
              </a:spcBef>
              <a:spcAft>
                <a:spcPts val="0"/>
              </a:spcAft>
              <a:buSzPts val="1800"/>
              <a:buChar char="○"/>
            </a:pPr>
            <a:r>
              <a:rPr lang="en" sz="1800"/>
              <a:t>Aligned samples and genes </a:t>
            </a:r>
            <a:endParaRPr sz="1800"/>
          </a:p>
          <a:p>
            <a:pPr marL="914400" lvl="1" indent="-342900" algn="l" rtl="0">
              <a:spcBef>
                <a:spcPts val="0"/>
              </a:spcBef>
              <a:spcAft>
                <a:spcPts val="0"/>
              </a:spcAft>
              <a:buSzPts val="1800"/>
              <a:buChar char="○"/>
            </a:pPr>
            <a:r>
              <a:rPr lang="en" sz="1800"/>
              <a:t>Normalized with DESeq2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Background</a:t>
            </a:r>
            <a:endParaRPr/>
          </a:p>
        </p:txBody>
      </p:sp>
      <p:sp>
        <p:nvSpPr>
          <p:cNvPr id="85" name="Google Shape;85;p16"/>
          <p:cNvSpPr txBox="1">
            <a:spLocks noGrp="1"/>
          </p:cNvSpPr>
          <p:nvPr>
            <p:ph type="body" idx="1"/>
          </p:nvPr>
        </p:nvSpPr>
        <p:spPr>
          <a:xfrm>
            <a:off x="311700" y="1362418"/>
            <a:ext cx="8520600" cy="36078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b="1"/>
              <a:t>Dataset</a:t>
            </a:r>
            <a:endParaRPr b="1"/>
          </a:p>
          <a:p>
            <a:pPr marL="914400" lvl="1" indent="-317500" algn="l" rtl="0">
              <a:spcBef>
                <a:spcPts val="0"/>
              </a:spcBef>
              <a:spcAft>
                <a:spcPts val="0"/>
              </a:spcAft>
              <a:buSzPts val="1400"/>
              <a:buChar char="○"/>
            </a:pPr>
            <a:r>
              <a:rPr lang="en"/>
              <a:t>Main: Upper airway gene expression differentiates COVID-19 from other acute respiratory illnesses and reveals suppression of innate immune responses by SARS-CoV-2 (GSE156063)</a:t>
            </a:r>
            <a:endParaRPr/>
          </a:p>
          <a:p>
            <a:pPr marL="0" lvl="0" indent="0" algn="l" rtl="0">
              <a:spcBef>
                <a:spcPts val="0"/>
              </a:spcBef>
              <a:spcAft>
                <a:spcPts val="0"/>
              </a:spcAft>
              <a:buNone/>
            </a:pPr>
            <a:endParaRPr/>
          </a:p>
          <a:p>
            <a:pPr marL="457200" lvl="0" indent="-342900" algn="l" rtl="0">
              <a:spcBef>
                <a:spcPts val="0"/>
              </a:spcBef>
              <a:spcAft>
                <a:spcPts val="0"/>
              </a:spcAft>
              <a:buSzPts val="1800"/>
              <a:buChar char="●"/>
            </a:pPr>
            <a:r>
              <a:rPr lang="en" b="1"/>
              <a:t>Key variables: </a:t>
            </a:r>
            <a:endParaRPr b="1"/>
          </a:p>
          <a:p>
            <a:pPr marL="914400" lvl="1" indent="-317500" algn="l" rtl="0">
              <a:spcBef>
                <a:spcPts val="0"/>
              </a:spcBef>
              <a:spcAft>
                <a:spcPts val="0"/>
              </a:spcAft>
              <a:buSzPts val="1400"/>
              <a:buChar char="○"/>
            </a:pPr>
            <a:r>
              <a:rPr lang="en"/>
              <a:t>Innate Immune Score: measures how strongly the immune system responds to infection.</a:t>
            </a:r>
            <a:endParaRPr/>
          </a:p>
          <a:p>
            <a:pPr marL="914400" lvl="1" indent="-317500" algn="l" rtl="0">
              <a:spcBef>
                <a:spcPts val="0"/>
              </a:spcBef>
              <a:spcAft>
                <a:spcPts val="0"/>
              </a:spcAft>
              <a:buSzPts val="1400"/>
              <a:buChar char="○"/>
            </a:pPr>
            <a:r>
              <a:rPr lang="en"/>
              <a:t>Viral Load: measures how much virus is in the body.</a:t>
            </a:r>
            <a:endParaRPr/>
          </a:p>
          <a:p>
            <a:pPr marL="914400" lvl="1" indent="-317500" algn="l" rtl="0">
              <a:spcBef>
                <a:spcPts val="0"/>
              </a:spcBef>
              <a:spcAft>
                <a:spcPts val="0"/>
              </a:spcAft>
              <a:buSzPts val="1400"/>
              <a:buChar char="○"/>
            </a:pPr>
            <a:r>
              <a:rPr lang="en"/>
              <a:t>Disease Status (COVID vs. Healthy): shows whether the sample is from a COVID-19 positive or healthy person</a:t>
            </a:r>
            <a:endParaRPr/>
          </a:p>
          <a:p>
            <a:pPr marL="914400" lvl="1" indent="-317500" algn="l" rtl="0">
              <a:spcBef>
                <a:spcPts val="0"/>
              </a:spcBef>
              <a:spcAft>
                <a:spcPts val="0"/>
              </a:spcAft>
              <a:buSzPts val="1400"/>
              <a:buChar char="○"/>
            </a:pPr>
            <a:r>
              <a:rPr lang="en"/>
              <a:t>Gene Expression Counts: shows how active a gene is</a:t>
            </a:r>
            <a:endParaRPr/>
          </a:p>
          <a:p>
            <a:pPr marL="0" lvl="0" indent="0" algn="l" rtl="0">
              <a:spcBef>
                <a:spcPts val="0"/>
              </a:spcBef>
              <a:spcAft>
                <a:spcPts val="0"/>
              </a:spcAft>
              <a:buNone/>
            </a:pPr>
            <a:endParaRPr/>
          </a:p>
          <a:p>
            <a:pPr marL="457200" lvl="0" indent="-342900" algn="l" rtl="0">
              <a:spcBef>
                <a:spcPts val="0"/>
              </a:spcBef>
              <a:spcAft>
                <a:spcPts val="0"/>
              </a:spcAft>
              <a:buSzPts val="1800"/>
              <a:buChar char="●"/>
            </a:pPr>
            <a:r>
              <a:rPr lang="en" b="1"/>
              <a:t>Source</a:t>
            </a:r>
            <a:r>
              <a:rPr lang="en"/>
              <a:t>: public GEO dataset (NCBI)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Differential Expression</a:t>
            </a:r>
            <a:endParaRPr/>
          </a:p>
        </p:txBody>
      </p:sp>
      <p:sp>
        <p:nvSpPr>
          <p:cNvPr id="91" name="Google Shape;91;p17"/>
          <p:cNvSpPr txBox="1">
            <a:spLocks noGrp="1"/>
          </p:cNvSpPr>
          <p:nvPr>
            <p:ph type="body" idx="1"/>
          </p:nvPr>
        </p:nvSpPr>
        <p:spPr>
          <a:xfrm>
            <a:off x="275275" y="1668854"/>
            <a:ext cx="4260300" cy="3815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10,145 genes were statistically significantly (p-value &lt; 0.05).</a:t>
            </a:r>
            <a:endParaRPr/>
          </a:p>
          <a:p>
            <a:pPr marL="457200" lvl="0" indent="-342900" algn="l" rtl="0">
              <a:spcBef>
                <a:spcPts val="0"/>
              </a:spcBef>
              <a:spcAft>
                <a:spcPts val="0"/>
              </a:spcAft>
              <a:buSzPts val="1800"/>
              <a:buChar char="●"/>
            </a:pPr>
            <a:r>
              <a:rPr lang="en"/>
              <a:t>Genes differ between COVID and Healthy.</a:t>
            </a:r>
            <a:endParaRPr/>
          </a:p>
          <a:p>
            <a:pPr marL="457200" lvl="0" indent="-342900" algn="l" rtl="0">
              <a:spcBef>
                <a:spcPts val="0"/>
              </a:spcBef>
              <a:spcAft>
                <a:spcPts val="0"/>
              </a:spcAft>
              <a:buSzPts val="1800"/>
              <a:buChar char="●"/>
            </a:pPr>
            <a:r>
              <a:rPr lang="en"/>
              <a:t>These genes may reflect biological differences caused by infection</a:t>
            </a:r>
            <a:endParaRPr sz="1400"/>
          </a:p>
        </p:txBody>
      </p:sp>
      <p:pic>
        <p:nvPicPr>
          <p:cNvPr id="92" name="Google Shape;92;p17" title="Screenshot 2026-05-12 at 11.49.21 PM.png"/>
          <p:cNvPicPr preferRelativeResize="0"/>
          <p:nvPr/>
        </p:nvPicPr>
        <p:blipFill>
          <a:blip r:embed="rId3">
            <a:alphaModFix/>
          </a:blip>
          <a:stretch>
            <a:fillRect/>
          </a:stretch>
        </p:blipFill>
        <p:spPr>
          <a:xfrm>
            <a:off x="4500025" y="1311875"/>
            <a:ext cx="4460576" cy="27572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Predictive Model </a:t>
            </a:r>
            <a:endParaRPr/>
          </a:p>
        </p:txBody>
      </p:sp>
      <p:sp>
        <p:nvSpPr>
          <p:cNvPr id="98" name="Google Shape;98;p18"/>
          <p:cNvSpPr txBox="1">
            <a:spLocks noGrp="1"/>
          </p:cNvSpPr>
          <p:nvPr>
            <p:ph type="body" idx="1"/>
          </p:nvPr>
        </p:nvSpPr>
        <p:spPr>
          <a:xfrm>
            <a:off x="387900" y="1489825"/>
            <a:ext cx="5412000" cy="3078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Model: Random Forest</a:t>
            </a:r>
            <a:endParaRPr/>
          </a:p>
          <a:p>
            <a:pPr marL="457200" lvl="0" indent="-342900" algn="l" rtl="0">
              <a:spcBef>
                <a:spcPts val="0"/>
              </a:spcBef>
              <a:spcAft>
                <a:spcPts val="0"/>
              </a:spcAft>
              <a:buSzPts val="1800"/>
              <a:buChar char="●"/>
            </a:pPr>
            <a:r>
              <a:rPr lang="en"/>
              <a:t>Accuracy: 100%</a:t>
            </a:r>
            <a:endParaRPr/>
          </a:p>
          <a:p>
            <a:pPr marL="457200" lvl="0" indent="-342900" algn="l" rtl="0">
              <a:spcBef>
                <a:spcPts val="0"/>
              </a:spcBef>
              <a:spcAft>
                <a:spcPts val="0"/>
              </a:spcAft>
              <a:buSzPts val="1800"/>
              <a:buChar char="●"/>
            </a:pPr>
            <a:r>
              <a:rPr lang="en"/>
              <a:t>Model correctly classified all COVID-19 and Healthy samples.</a:t>
            </a:r>
            <a:endParaRPr/>
          </a:p>
          <a:p>
            <a:pPr marL="914400" lvl="1" indent="-317500" algn="l" rtl="0">
              <a:spcBef>
                <a:spcPts val="0"/>
              </a:spcBef>
              <a:spcAft>
                <a:spcPts val="0"/>
              </a:spcAft>
              <a:buSzPts val="1400"/>
              <a:buChar char="○"/>
            </a:pPr>
            <a:r>
              <a:rPr lang="en"/>
              <a:t>Sensitivity = 1.0</a:t>
            </a:r>
            <a:endParaRPr/>
          </a:p>
          <a:p>
            <a:pPr marL="914400" lvl="1" indent="-317500" algn="l" rtl="0">
              <a:spcBef>
                <a:spcPts val="0"/>
              </a:spcBef>
              <a:spcAft>
                <a:spcPts val="0"/>
              </a:spcAft>
              <a:buSzPts val="1400"/>
              <a:buChar char="○"/>
            </a:pPr>
            <a:r>
              <a:rPr lang="en"/>
              <a:t>Specificity = 1.0</a:t>
            </a:r>
            <a:endParaRPr/>
          </a:p>
          <a:p>
            <a:pPr marL="0" lvl="0" indent="0" algn="l" rtl="0">
              <a:spcBef>
                <a:spcPts val="1200"/>
              </a:spcBef>
              <a:spcAft>
                <a:spcPts val="1200"/>
              </a:spcAft>
              <a:buNone/>
            </a:pPr>
            <a:endParaRPr/>
          </a:p>
        </p:txBody>
      </p:sp>
      <p:pic>
        <p:nvPicPr>
          <p:cNvPr id="99" name="Google Shape;99;p18" title="Screenshot 2026-05-13 at 12.22.32 AM.png"/>
          <p:cNvPicPr preferRelativeResize="0"/>
          <p:nvPr/>
        </p:nvPicPr>
        <p:blipFill>
          <a:blip r:embed="rId3">
            <a:alphaModFix/>
          </a:blip>
          <a:stretch>
            <a:fillRect/>
          </a:stretch>
        </p:blipFill>
        <p:spPr>
          <a:xfrm>
            <a:off x="6039175" y="333625"/>
            <a:ext cx="2716925" cy="452309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Final data Product </a:t>
            </a:r>
            <a:endParaRPr/>
          </a:p>
        </p:txBody>
      </p:sp>
      <p:sp>
        <p:nvSpPr>
          <p:cNvPr id="105" name="Google Shape;105;p19"/>
          <p:cNvSpPr txBox="1">
            <a:spLocks noGrp="1"/>
          </p:cNvSpPr>
          <p:nvPr>
            <p:ph type="body" idx="1"/>
          </p:nvPr>
        </p:nvSpPr>
        <p:spPr>
          <a:xfrm>
            <a:off x="248150" y="1929050"/>
            <a:ext cx="4483500" cy="2360400"/>
          </a:xfrm>
          <a:prstGeom prst="rect">
            <a:avLst/>
          </a:prstGeom>
        </p:spPr>
        <p:txBody>
          <a:bodyPr spcFirstLastPara="1" wrap="square" lIns="91425" tIns="91425" rIns="91425" bIns="91425" anchor="t" anchorCtr="0">
            <a:normAutofit lnSpcReduction="20000"/>
          </a:bodyPr>
          <a:lstStyle/>
          <a:p>
            <a:pPr marL="457200" lvl="0" indent="-342900" algn="l" rtl="0">
              <a:spcBef>
                <a:spcPts val="0"/>
              </a:spcBef>
              <a:spcAft>
                <a:spcPts val="0"/>
              </a:spcAft>
              <a:buSzPts val="1800"/>
              <a:buChar char="●"/>
            </a:pPr>
            <a:r>
              <a:rPr lang="en"/>
              <a:t>Tested 10, 25, 50, 100 genes</a:t>
            </a:r>
            <a:endParaRPr/>
          </a:p>
          <a:p>
            <a:pPr marL="457200" lvl="0" indent="-342900" algn="l" rtl="0">
              <a:spcBef>
                <a:spcPts val="0"/>
              </a:spcBef>
              <a:spcAft>
                <a:spcPts val="0"/>
              </a:spcAft>
              <a:buSzPts val="1800"/>
              <a:buChar char="●"/>
            </a:pPr>
            <a:r>
              <a:rPr lang="en"/>
              <a:t>All models achieved 100% accuracy</a:t>
            </a:r>
            <a:endParaRPr/>
          </a:p>
          <a:p>
            <a:pPr marL="457200" lvl="0" indent="-342900" algn="l" rtl="0">
              <a:spcBef>
                <a:spcPts val="0"/>
              </a:spcBef>
              <a:spcAft>
                <a:spcPts val="0"/>
              </a:spcAft>
              <a:buSzPts val="1800"/>
              <a:buChar char="●"/>
            </a:pPr>
            <a:r>
              <a:rPr lang="en"/>
              <a:t>Even a small subset of genes can classify disease</a:t>
            </a:r>
            <a:endParaRPr/>
          </a:p>
          <a:p>
            <a:pPr marL="457200" lvl="0" indent="-342900" algn="l" rtl="0">
              <a:spcBef>
                <a:spcPts val="0"/>
              </a:spcBef>
              <a:spcAft>
                <a:spcPts val="0"/>
              </a:spcAft>
              <a:buSzPts val="1800"/>
              <a:buChar char="●"/>
            </a:pPr>
            <a:r>
              <a:rPr lang="en"/>
              <a:t>More genes did not improve model performance.</a:t>
            </a:r>
            <a:endParaRPr/>
          </a:p>
          <a:p>
            <a:pPr marL="0" lvl="0" indent="0" algn="l" rtl="0">
              <a:spcBef>
                <a:spcPts val="1200"/>
              </a:spcBef>
              <a:spcAft>
                <a:spcPts val="0"/>
              </a:spcAft>
              <a:buNone/>
            </a:pPr>
            <a:r>
              <a:rPr lang="en" sz="1500"/>
              <a:t>X-axis = number of genes used</a:t>
            </a:r>
            <a:endParaRPr sz="1500"/>
          </a:p>
          <a:p>
            <a:pPr marL="0" lvl="0" indent="0" algn="l" rtl="0">
              <a:spcBef>
                <a:spcPts val="0"/>
              </a:spcBef>
              <a:spcAft>
                <a:spcPts val="0"/>
              </a:spcAft>
              <a:buNone/>
            </a:pPr>
            <a:r>
              <a:rPr lang="en" sz="1500"/>
              <a:t>Y-axis = model accuracy </a:t>
            </a:r>
            <a:endParaRPr sz="1500"/>
          </a:p>
        </p:txBody>
      </p:sp>
      <p:pic>
        <p:nvPicPr>
          <p:cNvPr id="106" name="Google Shape;106;p19"/>
          <p:cNvPicPr preferRelativeResize="0"/>
          <p:nvPr/>
        </p:nvPicPr>
        <p:blipFill>
          <a:blip r:embed="rId3">
            <a:alphaModFix/>
          </a:blip>
          <a:stretch>
            <a:fillRect/>
          </a:stretch>
        </p:blipFill>
        <p:spPr>
          <a:xfrm>
            <a:off x="4631900" y="1591090"/>
            <a:ext cx="4399900" cy="2698235"/>
          </a:xfrm>
          <a:prstGeom prst="rect">
            <a:avLst/>
          </a:prstGeom>
          <a:noFill/>
          <a:ln>
            <a:noFill/>
          </a:ln>
        </p:spPr>
      </p:pic>
      <p:sp>
        <p:nvSpPr>
          <p:cNvPr id="107" name="Google Shape;107;p19"/>
          <p:cNvSpPr txBox="1"/>
          <p:nvPr/>
        </p:nvSpPr>
        <p:spPr>
          <a:xfrm>
            <a:off x="429250" y="1264450"/>
            <a:ext cx="3753300" cy="36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Roboto Slab"/>
                <a:ea typeface="Roboto Slab"/>
                <a:cs typeface="Roboto Slab"/>
                <a:sym typeface="Roboto Slab"/>
              </a:rPr>
              <a:t>Gene Subset Analysis</a:t>
            </a:r>
            <a:endParaRPr sz="2000">
              <a:solidFill>
                <a:schemeClr val="dk1"/>
              </a:solidFill>
              <a:latin typeface="Roboto Slab"/>
              <a:ea typeface="Roboto Slab"/>
              <a:cs typeface="Roboto Slab"/>
              <a:sym typeface="Roboto Slab"/>
            </a:endParaRPr>
          </a:p>
          <a:p>
            <a:pPr marL="0" lvl="0" indent="0" algn="l" rtl="0">
              <a:spcBef>
                <a:spcPts val="0"/>
              </a:spcBef>
              <a:spcAft>
                <a:spcPts val="0"/>
              </a:spcAft>
              <a:buNone/>
            </a:pPr>
            <a:endParaRPr sz="18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Key insights and Takeaways  </a:t>
            </a:r>
            <a:endParaRPr/>
          </a:p>
        </p:txBody>
      </p:sp>
      <p:sp>
        <p:nvSpPr>
          <p:cNvPr id="113" name="Google Shape;113;p20"/>
          <p:cNvSpPr/>
          <p:nvPr/>
        </p:nvSpPr>
        <p:spPr>
          <a:xfrm>
            <a:off x="429250" y="1424175"/>
            <a:ext cx="7906200" cy="509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latin typeface="Roboto"/>
                <a:ea typeface="Roboto"/>
                <a:cs typeface="Roboto"/>
                <a:sym typeface="Roboto"/>
              </a:rPr>
              <a:t>Gene Expression Clearly separates groups</a:t>
            </a:r>
            <a:endParaRPr sz="1600">
              <a:latin typeface="Roboto"/>
              <a:ea typeface="Roboto"/>
              <a:cs typeface="Roboto"/>
              <a:sym typeface="Roboto"/>
            </a:endParaRPr>
          </a:p>
        </p:txBody>
      </p:sp>
      <p:sp>
        <p:nvSpPr>
          <p:cNvPr id="114" name="Google Shape;114;p20"/>
          <p:cNvSpPr/>
          <p:nvPr/>
        </p:nvSpPr>
        <p:spPr>
          <a:xfrm>
            <a:off x="429250" y="2062650"/>
            <a:ext cx="7906200" cy="509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latin typeface="Roboto"/>
                <a:ea typeface="Roboto"/>
                <a:cs typeface="Roboto"/>
                <a:sym typeface="Roboto"/>
              </a:rPr>
              <a:t>Small gene sets can classify disease</a:t>
            </a:r>
            <a:endParaRPr sz="1600">
              <a:latin typeface="Roboto"/>
              <a:ea typeface="Roboto"/>
              <a:cs typeface="Roboto"/>
              <a:sym typeface="Roboto"/>
            </a:endParaRPr>
          </a:p>
        </p:txBody>
      </p:sp>
      <p:sp>
        <p:nvSpPr>
          <p:cNvPr id="115" name="Google Shape;115;p20"/>
          <p:cNvSpPr/>
          <p:nvPr/>
        </p:nvSpPr>
        <p:spPr>
          <a:xfrm>
            <a:off x="429242" y="2701125"/>
            <a:ext cx="7906200" cy="509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a:latin typeface="Roboto"/>
                <a:ea typeface="Roboto"/>
                <a:cs typeface="Roboto"/>
                <a:sym typeface="Roboto"/>
              </a:rPr>
              <a:t>Biological + ML results align.</a:t>
            </a:r>
            <a:endParaRPr sz="1600">
              <a:latin typeface="Roboto"/>
              <a:ea typeface="Roboto"/>
              <a:cs typeface="Roboto"/>
              <a:sym typeface="Roboto"/>
            </a:endParaRPr>
          </a:p>
        </p:txBody>
      </p:sp>
      <p:sp>
        <p:nvSpPr>
          <p:cNvPr id="116" name="Google Shape;116;p20"/>
          <p:cNvSpPr/>
          <p:nvPr/>
        </p:nvSpPr>
        <p:spPr>
          <a:xfrm>
            <a:off x="429250" y="3339600"/>
            <a:ext cx="7906200" cy="509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a:latin typeface="Roboto"/>
                <a:ea typeface="Roboto"/>
                <a:cs typeface="Roboto"/>
                <a:sym typeface="Roboto"/>
              </a:rPr>
              <a:t>Findings suggest potential for simpler diagnostic approaches</a:t>
            </a:r>
            <a:endParaRPr sz="1600">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Reflection </a:t>
            </a:r>
            <a:endParaRPr/>
          </a:p>
        </p:txBody>
      </p:sp>
      <p:sp>
        <p:nvSpPr>
          <p:cNvPr id="122" name="Google Shape;122;p21"/>
          <p:cNvSpPr txBox="1">
            <a:spLocks noGrp="1"/>
          </p:cNvSpPr>
          <p:nvPr>
            <p:ph type="body" idx="1"/>
          </p:nvPr>
        </p:nvSpPr>
        <p:spPr>
          <a:xfrm>
            <a:off x="387900" y="1304375"/>
            <a:ext cx="8368200" cy="3474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Challenging: </a:t>
            </a:r>
            <a:endParaRPr/>
          </a:p>
          <a:p>
            <a:pPr marL="914400" lvl="1" indent="-317500" algn="l" rtl="0">
              <a:spcBef>
                <a:spcPts val="0"/>
              </a:spcBef>
              <a:spcAft>
                <a:spcPts val="0"/>
              </a:spcAft>
              <a:buSzPts val="1400"/>
              <a:buChar char="○"/>
            </a:pPr>
            <a:r>
              <a:rPr lang="en"/>
              <a:t>Data Cleaning</a:t>
            </a:r>
            <a:endParaRPr/>
          </a:p>
          <a:p>
            <a:pPr marL="914400" lvl="1" indent="-317500" algn="l" rtl="0">
              <a:spcBef>
                <a:spcPts val="0"/>
              </a:spcBef>
              <a:spcAft>
                <a:spcPts val="0"/>
              </a:spcAft>
              <a:buSzPts val="1400"/>
              <a:buChar char="○"/>
            </a:pPr>
            <a:r>
              <a:rPr lang="en"/>
              <a:t>Normalizing numbers </a:t>
            </a:r>
            <a:endParaRPr/>
          </a:p>
          <a:p>
            <a:pPr marL="914400" lvl="1" indent="-317500" algn="l" rtl="0">
              <a:spcBef>
                <a:spcPts val="0"/>
              </a:spcBef>
              <a:spcAft>
                <a:spcPts val="0"/>
              </a:spcAft>
              <a:buSzPts val="1400"/>
              <a:buChar char="○"/>
            </a:pPr>
            <a:r>
              <a:rPr lang="en"/>
              <a:t>Combining datasets </a:t>
            </a:r>
            <a:endParaRPr/>
          </a:p>
          <a:p>
            <a:pPr marL="457200" lvl="0" indent="-342900" algn="l" rtl="0">
              <a:spcBef>
                <a:spcPts val="0"/>
              </a:spcBef>
              <a:spcAft>
                <a:spcPts val="0"/>
              </a:spcAft>
              <a:buSzPts val="1800"/>
              <a:buChar char="●"/>
            </a:pPr>
            <a:r>
              <a:rPr lang="en"/>
              <a:t>Rewarding </a:t>
            </a:r>
            <a:endParaRPr/>
          </a:p>
          <a:p>
            <a:pPr marL="914400" lvl="1" indent="-317500" algn="l" rtl="0">
              <a:spcBef>
                <a:spcPts val="0"/>
              </a:spcBef>
              <a:spcAft>
                <a:spcPts val="0"/>
              </a:spcAft>
              <a:buSzPts val="1400"/>
              <a:buChar char="○"/>
            </a:pPr>
            <a:r>
              <a:rPr lang="en"/>
              <a:t>Building working models </a:t>
            </a:r>
            <a:endParaRPr/>
          </a:p>
          <a:p>
            <a:pPr marL="914400" lvl="1" indent="-317500" algn="l" rtl="0">
              <a:spcBef>
                <a:spcPts val="0"/>
              </a:spcBef>
              <a:spcAft>
                <a:spcPts val="0"/>
              </a:spcAft>
              <a:buSzPts val="1400"/>
              <a:buChar char="○"/>
            </a:pPr>
            <a:r>
              <a:rPr lang="en"/>
              <a:t>Seeing good results </a:t>
            </a:r>
            <a:endParaRPr/>
          </a:p>
          <a:p>
            <a:pPr marL="457200" lvl="0" indent="-342900" algn="l" rtl="0">
              <a:spcBef>
                <a:spcPts val="0"/>
              </a:spcBef>
              <a:spcAft>
                <a:spcPts val="0"/>
              </a:spcAft>
              <a:buSzPts val="1800"/>
              <a:buChar char="●"/>
            </a:pPr>
            <a:r>
              <a:rPr lang="en"/>
              <a:t>Limitations: </a:t>
            </a:r>
            <a:endParaRPr/>
          </a:p>
          <a:p>
            <a:pPr marL="914400" lvl="1" indent="-317500" algn="l" rtl="0">
              <a:spcBef>
                <a:spcPts val="0"/>
              </a:spcBef>
              <a:spcAft>
                <a:spcPts val="0"/>
              </a:spcAft>
              <a:buSzPts val="1400"/>
              <a:buChar char="○"/>
            </a:pPr>
            <a:r>
              <a:rPr lang="en"/>
              <a:t>Small sample size</a:t>
            </a:r>
            <a:endParaRPr/>
          </a:p>
          <a:p>
            <a:pPr marL="914400" lvl="1" indent="-317500" algn="l" rtl="0">
              <a:spcBef>
                <a:spcPts val="0"/>
              </a:spcBef>
              <a:spcAft>
                <a:spcPts val="0"/>
              </a:spcAft>
              <a:buSzPts val="1400"/>
              <a:buChar char="○"/>
            </a:pPr>
            <a:r>
              <a:rPr lang="en"/>
              <a:t>Overfitting </a:t>
            </a:r>
            <a:endParaRPr/>
          </a:p>
          <a:p>
            <a:pPr marL="914400" lvl="1" indent="-317500" algn="l" rtl="0">
              <a:spcBef>
                <a:spcPts val="0"/>
              </a:spcBef>
              <a:spcAft>
                <a:spcPts val="0"/>
              </a:spcAft>
              <a:buSzPts val="1400"/>
              <a:buChar char="○"/>
            </a:pPr>
            <a:r>
              <a:rPr lang="en"/>
              <a:t>Limited generalization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Next Steps </a:t>
            </a:r>
            <a:endParaRPr/>
          </a:p>
        </p:txBody>
      </p:sp>
      <p:sp>
        <p:nvSpPr>
          <p:cNvPr id="128" name="Google Shape;128;p22"/>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Use larger datasets/subsets </a:t>
            </a:r>
            <a:endParaRPr/>
          </a:p>
          <a:p>
            <a:pPr marL="457200" lvl="0" indent="-342900" algn="l" rtl="0">
              <a:spcBef>
                <a:spcPts val="0"/>
              </a:spcBef>
              <a:spcAft>
                <a:spcPts val="0"/>
              </a:spcAft>
              <a:buSzPts val="1800"/>
              <a:buChar char="●"/>
            </a:pPr>
            <a:r>
              <a:rPr lang="en"/>
              <a:t>Apply cross validation</a:t>
            </a:r>
            <a:endParaRPr/>
          </a:p>
          <a:p>
            <a:pPr marL="914400" lvl="1" indent="-317500" algn="l" rtl="0">
              <a:spcBef>
                <a:spcPts val="0"/>
              </a:spcBef>
              <a:spcAft>
                <a:spcPts val="0"/>
              </a:spcAft>
              <a:buSzPts val="1400"/>
              <a:buChar char="○"/>
            </a:pPr>
            <a:r>
              <a:rPr lang="en"/>
              <a:t> Would provide a more reliable estimate of model performance </a:t>
            </a:r>
            <a:endParaRPr/>
          </a:p>
          <a:p>
            <a:pPr marL="914400" lvl="1" indent="-317500" algn="l" rtl="0">
              <a:spcBef>
                <a:spcPts val="0"/>
              </a:spcBef>
              <a:spcAft>
                <a:spcPts val="0"/>
              </a:spcAft>
              <a:buSzPts val="1400"/>
              <a:buChar char="○"/>
            </a:pPr>
            <a:r>
              <a:rPr lang="en"/>
              <a:t>Helps reduce overfitting</a:t>
            </a:r>
            <a:endParaRPr/>
          </a:p>
          <a:p>
            <a:pPr marL="457200" lvl="0" indent="-342900" algn="l" rtl="0">
              <a:spcBef>
                <a:spcPts val="0"/>
              </a:spcBef>
              <a:spcAft>
                <a:spcPts val="0"/>
              </a:spcAft>
              <a:buSzPts val="1800"/>
              <a:buChar char="●"/>
            </a:pPr>
            <a:r>
              <a:rPr lang="en"/>
              <a:t>Explore biological pathways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Acknowledgements</a:t>
            </a:r>
            <a:endParaRPr/>
          </a:p>
        </p:txBody>
      </p:sp>
      <p:sp>
        <p:nvSpPr>
          <p:cNvPr id="134" name="Google Shape;134;p23"/>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 special thanks to everyone who supported me and helped me through this project: </a:t>
            </a:r>
            <a:endParaRPr/>
          </a:p>
          <a:p>
            <a:pPr marL="457200" lvl="0" indent="-342900" algn="l" rtl="0">
              <a:spcBef>
                <a:spcPts val="1200"/>
              </a:spcBef>
              <a:spcAft>
                <a:spcPts val="0"/>
              </a:spcAft>
              <a:buSzPts val="1800"/>
              <a:buChar char="●"/>
            </a:pPr>
            <a:r>
              <a:rPr lang="en"/>
              <a:t>My dad</a:t>
            </a:r>
            <a:endParaRPr/>
          </a:p>
          <a:p>
            <a:pPr marL="457200" lvl="0" indent="-342900" algn="l" rtl="0">
              <a:spcBef>
                <a:spcPts val="0"/>
              </a:spcBef>
              <a:spcAft>
                <a:spcPts val="0"/>
              </a:spcAft>
              <a:buSzPts val="1800"/>
              <a:buChar char="●"/>
            </a:pPr>
            <a:r>
              <a:rPr lang="en"/>
              <a:t>Professor Rachel Saidi</a:t>
            </a:r>
            <a:endParaRPr/>
          </a:p>
          <a:p>
            <a:pPr marL="457200" lvl="0" indent="-342900" algn="l" rtl="0">
              <a:spcBef>
                <a:spcPts val="0"/>
              </a:spcBef>
              <a:spcAft>
                <a:spcPts val="0"/>
              </a:spcAft>
              <a:buSzPts val="1800"/>
              <a:buChar char="●"/>
            </a:pPr>
            <a:r>
              <a:rPr lang="en"/>
              <a:t>Professor Mais Alraee </a:t>
            </a:r>
            <a:endParaRPr/>
          </a:p>
          <a:p>
            <a:pPr marL="457200" lvl="0" indent="-342900" algn="l" rtl="0">
              <a:spcBef>
                <a:spcPts val="0"/>
              </a:spcBef>
              <a:spcAft>
                <a:spcPts val="0"/>
              </a:spcAft>
              <a:buSzPts val="1800"/>
              <a:buChar char="●"/>
            </a:pPr>
            <a:r>
              <a:rPr lang="en"/>
              <a:t>Professor Lori Perine</a:t>
            </a:r>
            <a:endParaRPr/>
          </a:p>
          <a:p>
            <a:pPr marL="457200" lvl="0" indent="-342900" algn="l" rtl="0">
              <a:spcBef>
                <a:spcPts val="0"/>
              </a:spcBef>
              <a:spcAft>
                <a:spcPts val="0"/>
              </a:spcAft>
              <a:buSzPts val="1800"/>
              <a:buChar char="●"/>
            </a:pPr>
            <a:r>
              <a:rPr lang="en"/>
              <a:t>Professor Daeshik Park</a:t>
            </a:r>
            <a:endParaRPr/>
          </a:p>
        </p:txBody>
      </p:sp>
      <p:sp>
        <p:nvSpPr>
          <p:cNvPr id="135" name="Google Shape;135;p23"/>
          <p:cNvSpPr txBox="1"/>
          <p:nvPr/>
        </p:nvSpPr>
        <p:spPr>
          <a:xfrm>
            <a:off x="4038269" y="2224800"/>
            <a:ext cx="4329600" cy="22758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All of my classmates </a:t>
            </a:r>
            <a:endParaRPr sz="1800">
              <a:solidFill>
                <a:schemeClr val="dk1"/>
              </a:solidFill>
              <a:latin typeface="Roboto"/>
              <a:ea typeface="Roboto"/>
              <a:cs typeface="Roboto"/>
              <a:sym typeface="Roboto"/>
            </a:endParaRPr>
          </a:p>
          <a:p>
            <a:pPr marL="457200" lvl="0" indent="-342900" algn="l" rtl="0">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National Institutes of Health (NIH)</a:t>
            </a:r>
            <a:endParaRPr sz="1800">
              <a:solidFill>
                <a:schemeClr val="dk1"/>
              </a:solidFill>
              <a:latin typeface="Roboto"/>
              <a:ea typeface="Roboto"/>
              <a:cs typeface="Roboto"/>
              <a:sym typeface="Roboto"/>
            </a:endParaRPr>
          </a:p>
          <a:p>
            <a:pPr marL="457200" lvl="0" indent="-342900" algn="l" rtl="0">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National Center for Biotechnology Information (NCBI)</a:t>
            </a:r>
            <a:endParaRPr sz="1800">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References </a:t>
            </a:r>
            <a:endParaRPr/>
          </a:p>
        </p:txBody>
      </p:sp>
      <p:sp>
        <p:nvSpPr>
          <p:cNvPr id="141" name="Google Shape;141;p2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lnSpcReduction="10000"/>
          </a:bodyPr>
          <a:lstStyle/>
          <a:p>
            <a:pPr marL="0" lvl="0" indent="457200" algn="l" rtl="0">
              <a:spcBef>
                <a:spcPts val="0"/>
              </a:spcBef>
              <a:spcAft>
                <a:spcPts val="0"/>
              </a:spcAft>
              <a:buNone/>
            </a:pPr>
            <a:r>
              <a:rPr lang="en"/>
              <a:t>Arunachalam, P., Wimmers, F., Mok, C., Perera, R., &amp; et al. (2020, July 31). Systems biological assessment of immunity to severe and mild COVID-19 infections. National Center for Biotechnology Information. </a:t>
            </a:r>
            <a:r>
              <a:rPr lang="en" u="sng">
                <a:solidFill>
                  <a:schemeClr val="hlink"/>
                </a:solidFill>
                <a:hlinkClick r:id="rId3"/>
              </a:rPr>
              <a:t>https://www.ncbi.nlm.nih.gov/geo/query/acc.cgi?acc=GSE152418</a:t>
            </a:r>
            <a:r>
              <a:rPr lang="en"/>
              <a:t> </a:t>
            </a:r>
            <a:endParaRPr/>
          </a:p>
          <a:p>
            <a:pPr marL="0" lvl="0" indent="457200" algn="l" rtl="0">
              <a:spcBef>
                <a:spcPts val="1200"/>
              </a:spcBef>
              <a:spcAft>
                <a:spcPts val="1200"/>
              </a:spcAft>
              <a:buNone/>
            </a:pPr>
            <a:r>
              <a:rPr lang="en"/>
              <a:t>Mick, E., Kamm, J., Pisco, A., Ratnasiri, K., &amp; et al. (2020, August 12). Upper airway gene expression differentiates COVID-19 from other acute respiratory illnesses and reveals suppression of innate immune responses by SARS-CoV-2. National Center for Biotechnology Information. </a:t>
            </a:r>
            <a:r>
              <a:rPr lang="en" u="sng">
                <a:solidFill>
                  <a:schemeClr val="hlink"/>
                </a:solidFill>
                <a:hlinkClick r:id="rId4"/>
              </a:rPr>
              <a:t>https://www.ncbi.nlm.nih.gov/geo/query/acc.cgi?acc=GSE156063</a:t>
            </a:r>
            <a:r>
              <a:rPr lang="en"/>
              <a:t> </a:t>
            </a:r>
            <a:endParaRP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1520</Words>
  <Application>Microsoft Macintosh PowerPoint</Application>
  <PresentationFormat>On-screen Show (16:9)</PresentationFormat>
  <Paragraphs>120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Roboto</vt:lpstr>
      <vt:lpstr>Roboto Slab</vt:lpstr>
      <vt:lpstr>Oswald</vt:lpstr>
      <vt:lpstr>Arial</vt:lpstr>
      <vt:lpstr>Marina</vt:lpstr>
      <vt:lpstr> Gene Expression Based Classification of COVID-19 Using RNAseq Data</vt:lpstr>
      <vt:lpstr>PowerPoint Presentation</vt:lpstr>
      <vt:lpstr>Introduction</vt:lpstr>
      <vt:lpstr>Background</vt:lpstr>
      <vt:lpstr>Differential Expression</vt:lpstr>
      <vt:lpstr>Predictive Model </vt:lpstr>
      <vt:lpstr>Final data Product </vt:lpstr>
      <vt:lpstr>Key insights and Takeaways  </vt:lpstr>
      <vt:lpstr>Reflection </vt:lpstr>
      <vt:lpstr>Next Steps </vt:lpstr>
      <vt:lpstr>Acknowledgements</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jacq mccarty</cp:lastModifiedBy>
  <cp:revision>1</cp:revision>
  <dcterms:modified xsi:type="dcterms:W3CDTF">2026-05-13T04:34:30Z</dcterms:modified>
</cp:coreProperties>
</file>